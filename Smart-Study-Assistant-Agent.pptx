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3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4630400" cy="8229600"/>
  <p:notesSz cx="8229600" cy="146304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Verdana" panose="020B060403050404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737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164086"/>
            <a:ext cx="11338560" cy="2190115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358641"/>
            <a:ext cx="11338560" cy="82296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91473" y="5177194"/>
            <a:ext cx="3493008" cy="44957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5188615"/>
            <a:ext cx="768096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2640" y="1717040"/>
            <a:ext cx="3291840" cy="43815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5971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1287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904240"/>
            <a:ext cx="12984479" cy="3362322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370071"/>
            <a:ext cx="12588240" cy="1146810"/>
          </a:xfrm>
        </p:spPr>
        <p:txBody>
          <a:bodyPr>
            <a:normAutofit/>
          </a:bodyPr>
          <a:lstStyle>
            <a:lvl1pPr marL="0" indent="0" algn="r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2"/>
            <a:ext cx="8389790" cy="43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024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2869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0" y="914400"/>
            <a:ext cx="10332720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91" y="2620563"/>
            <a:ext cx="6095989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3759200"/>
            <a:ext cx="637413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60" y="2620563"/>
            <a:ext cx="6126480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759200"/>
            <a:ext cx="640080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2303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3467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0264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4937760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698" y="896111"/>
            <a:ext cx="7812742" cy="65663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4937760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3620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8247888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3486" y="901490"/>
            <a:ext cx="4373954" cy="6560932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8247888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2223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32" y="5636833"/>
            <a:ext cx="12986441" cy="983226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8072" y="1129728"/>
            <a:ext cx="12986208" cy="4173793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6620059"/>
            <a:ext cx="12984480" cy="842363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0455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04239"/>
            <a:ext cx="12984480" cy="3362960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378960"/>
            <a:ext cx="12156619" cy="1198880"/>
          </a:xfrm>
        </p:spPr>
        <p:txBody>
          <a:bodyPr anchor="ctr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8416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61" y="904240"/>
            <a:ext cx="12181840" cy="3125394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64638" y="4038668"/>
            <a:ext cx="11511283" cy="53333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751835"/>
            <a:ext cx="12181840" cy="815845"/>
          </a:xfrm>
        </p:spPr>
        <p:txBody>
          <a:bodyPr anchor="ctr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71500" y="11201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1076" y="324154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89441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94" y="1349642"/>
            <a:ext cx="12175423" cy="3014202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0" y="4377979"/>
            <a:ext cx="12173585" cy="1199862"/>
          </a:xfrm>
        </p:spPr>
        <p:txBody>
          <a:bodyPr anchor="t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466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466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89962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64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42496"/>
            <a:ext cx="4147718" cy="74078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59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2560" y="2641600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40230" y="3484880"/>
            <a:ext cx="4147718" cy="3977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62160" y="2631439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62161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0841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26342" y="5029201"/>
            <a:ext cx="4141898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6342" y="2834640"/>
            <a:ext cx="4141898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26342" y="5848518"/>
            <a:ext cx="4141898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9116" y="5029201"/>
            <a:ext cx="4138722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49116" y="2834640"/>
            <a:ext cx="4138723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49117" y="5848516"/>
            <a:ext cx="4138722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59678" y="5029201"/>
            <a:ext cx="4147763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59826" y="2834640"/>
            <a:ext cx="4137454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59678" y="5848514"/>
            <a:ext cx="4142934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662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2633471"/>
            <a:ext cx="12984480" cy="4828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58691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8560" y="894080"/>
            <a:ext cx="2468880" cy="46837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894081"/>
            <a:ext cx="9845041" cy="4683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593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1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11443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802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6912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342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661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2958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5207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675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419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31993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749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562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17297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4720" y="917247"/>
            <a:ext cx="10332720" cy="1551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33473"/>
            <a:ext cx="12984480" cy="48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4432" y="7627621"/>
            <a:ext cx="349300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30-Mar-26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7627015"/>
            <a:ext cx="9326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5600" y="4572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443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  <p:sldLayoutId id="2147483852" r:id="rId18"/>
    <p:sldLayoutId id="2147483853" r:id="rId19"/>
    <p:sldLayoutId id="2147483854" r:id="rId20"/>
    <p:sldLayoutId id="2147483855" r:id="rId21"/>
    <p:sldLayoutId id="2147483856" r:id="rId22"/>
    <p:sldLayoutId id="2147483857" r:id="rId23"/>
    <p:sldLayoutId id="2147483858" r:id="rId24"/>
    <p:sldLayoutId id="2147483859" r:id="rId25"/>
    <p:sldLayoutId id="2147483860" r:id="rId26"/>
    <p:sldLayoutId id="2147483861" r:id="rId27"/>
    <p:sldLayoutId id="2147483862" r:id="rId28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ketan.dutt@yahoo.in" TargetMode="External"/><Relationship Id="rId3" Type="http://schemas.openxmlformats.org/officeDocument/2006/relationships/hyperlink" Target="https://smart-study-agent-611808331280.us-central1.run.app/" TargetMode="External"/><Relationship Id="rId7" Type="http://schemas.openxmlformats.org/officeDocument/2006/relationships/hyperlink" Target="https://github.com/KetanDut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7.png"/><Relationship Id="rId5" Type="http://schemas.openxmlformats.org/officeDocument/2006/relationships/hyperlink" Target="https://github.com/KetanDutt/SmartStudyAssistantAgent" TargetMode="Externa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423517"/>
            <a:ext cx="7416403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Smart Study Assistant Agent </a:t>
            </a:r>
            <a:r>
              <a:rPr lang="en-US" sz="485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📚</a:t>
            </a:r>
            <a:endParaRPr lang="en-US" sz="4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198" y="4343876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AI-Powered Personalized Learning System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0198" y="5016341"/>
            <a:ext cx="74164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Developer :</a:t>
            </a: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 Ketan Dutt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Program :</a:t>
            </a: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 Google GenAI Academy 2026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549" y="730925"/>
            <a:ext cx="13083302" cy="138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Transforming Static Materials into Interactive Learning</a:t>
            </a:r>
            <a:endParaRPr lang="en-US" sz="4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73549" y="2508171"/>
            <a:ext cx="4229100" cy="2117408"/>
          </a:xfrm>
          <a:prstGeom prst="roundRect">
            <a:avLst>
              <a:gd name="adj" fmla="val 438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2149" y="2736771"/>
            <a:ext cx="663059" cy="663059"/>
          </a:xfrm>
          <a:prstGeom prst="roundRect">
            <a:avLst>
              <a:gd name="adj" fmla="val 13789249"/>
            </a:avLst>
          </a:prstGeom>
          <a:solidFill>
            <a:srgbClr val="609D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4434" y="2919055"/>
            <a:ext cx="298371" cy="2983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2149" y="3597712"/>
            <a:ext cx="2762964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Upload Materials</a:t>
            </a:r>
            <a:endParaRPr lang="en-US" sz="21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2149" y="4061817"/>
            <a:ext cx="3771900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PDFs or notes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00531" y="2508171"/>
            <a:ext cx="4229219" cy="2117408"/>
          </a:xfrm>
          <a:prstGeom prst="roundRect">
            <a:avLst>
              <a:gd name="adj" fmla="val 438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9131" y="2736771"/>
            <a:ext cx="663059" cy="663059"/>
          </a:xfrm>
          <a:prstGeom prst="roundRect">
            <a:avLst>
              <a:gd name="adj" fmla="val 13789249"/>
            </a:avLst>
          </a:prstGeom>
          <a:solidFill>
            <a:srgbClr val="609D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1416" y="2919055"/>
            <a:ext cx="298371" cy="2983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9131" y="3597712"/>
            <a:ext cx="2762964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Ask Questions</a:t>
            </a:r>
            <a:endParaRPr lang="en-US" sz="21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29131" y="4061817"/>
            <a:ext cx="3772019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AI explanations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627632" y="2508171"/>
            <a:ext cx="4229219" cy="2117408"/>
          </a:xfrm>
          <a:prstGeom prst="roundRect">
            <a:avLst>
              <a:gd name="adj" fmla="val 438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56232" y="2736771"/>
            <a:ext cx="663059" cy="663059"/>
          </a:xfrm>
          <a:prstGeom prst="roundRect">
            <a:avLst>
              <a:gd name="adj" fmla="val 13789249"/>
            </a:avLst>
          </a:prstGeom>
          <a:solidFill>
            <a:srgbClr val="609D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8517" y="2919055"/>
            <a:ext cx="298371" cy="2983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56232" y="3597712"/>
            <a:ext cx="2762964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Generate Quizzes</a:t>
            </a:r>
            <a:endParaRPr lang="en-US" sz="21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856232" y="4061817"/>
            <a:ext cx="3772019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Exam simulations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73549" y="4823460"/>
            <a:ext cx="6442710" cy="2117408"/>
          </a:xfrm>
          <a:prstGeom prst="roundRect">
            <a:avLst>
              <a:gd name="adj" fmla="val 438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02149" y="5052060"/>
            <a:ext cx="663059" cy="663059"/>
          </a:xfrm>
          <a:prstGeom prst="roundRect">
            <a:avLst>
              <a:gd name="adj" fmla="val 13789249"/>
            </a:avLst>
          </a:prstGeom>
          <a:solidFill>
            <a:srgbClr val="609D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4434" y="5234345"/>
            <a:ext cx="298371" cy="2983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2149" y="5913001"/>
            <a:ext cx="2762964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Track Weak Areas</a:t>
            </a:r>
            <a:endParaRPr lang="en-US" sz="21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002149" y="6377107"/>
            <a:ext cx="5985510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Automatic detection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7414141" y="4823460"/>
            <a:ext cx="6442710" cy="2117408"/>
          </a:xfrm>
          <a:prstGeom prst="roundRect">
            <a:avLst>
              <a:gd name="adj" fmla="val 438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42741" y="5052060"/>
            <a:ext cx="663059" cy="663059"/>
          </a:xfrm>
          <a:prstGeom prst="roundRect">
            <a:avLst>
              <a:gd name="adj" fmla="val 13789249"/>
            </a:avLst>
          </a:prstGeom>
          <a:solidFill>
            <a:srgbClr val="609D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5026" y="5234345"/>
            <a:ext cx="298371" cy="29837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42741" y="5913001"/>
            <a:ext cx="2762964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Revision Plans</a:t>
            </a:r>
            <a:endParaRPr lang="en-US" sz="21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642741" y="6377107"/>
            <a:ext cx="5985510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Personalized schedules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773549" y="7163514"/>
            <a:ext cx="13083302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Acts as a </a:t>
            </a:r>
            <a:r>
              <a:rPr lang="en-US" sz="1700" b="1" dirty="0">
                <a:solidFill>
                  <a:srgbClr val="609DFF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personal AI tutor</a:t>
            </a:r>
            <a:r>
              <a:rPr lang="en-US" sz="17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, adapting to each student's learning needs.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164312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Students Face Critical Challenges</a:t>
            </a:r>
            <a:endParaRPr lang="en-US" sz="4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198" y="332386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Current Problems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0198" y="3956209"/>
            <a:ext cx="3646557" cy="302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Complex topics difficult to understand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No personalized guidance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Inefficient revision strategies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Weak areas go untracked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367129" y="332386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Traditional Methods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367129" y="3956209"/>
            <a:ext cx="3407093" cy="2619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Static </a:t>
            </a:r>
            <a:r>
              <a:rPr lang="en-US" sz="19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❌</a:t>
            </a: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 </a:t>
            </a:r>
          </a:p>
          <a:p>
            <a:pPr marL="342900" indent="-342900" algn="l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Non-adaptive </a:t>
            </a:r>
            <a:r>
              <a:rPr lang="en-US" sz="19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❌</a:t>
            </a:r>
          </a:p>
          <a:p>
            <a:pPr marL="342900" indent="-342900" algn="l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Time-consuming </a:t>
            </a:r>
            <a:r>
              <a:rPr lang="en-US" sz="19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❌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0170" y="607576"/>
            <a:ext cx="5678210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Our AI-Powered Solution</a:t>
            </a:r>
            <a:endParaRPr lang="en-US" sz="3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70" y="1492925"/>
            <a:ext cx="949285" cy="1139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55426" y="1682710"/>
            <a:ext cx="237327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Interactive Learning</a:t>
            </a:r>
            <a:endParaRPr lang="en-US" sz="1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455426" y="2066925"/>
            <a:ext cx="10814804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Converts notes into dynamic experience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" y="2632115"/>
            <a:ext cx="949285" cy="11391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55426" y="2821900"/>
            <a:ext cx="237327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Simple Explanations</a:t>
            </a:r>
            <a:endParaRPr lang="en-US" sz="1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455426" y="3206115"/>
            <a:ext cx="10814804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Complex concepts made easy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170" y="3771305"/>
            <a:ext cx="949285" cy="11391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55426" y="3961090"/>
            <a:ext cx="237327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Active Recall</a:t>
            </a:r>
            <a:endParaRPr lang="en-US" sz="1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455426" y="4345305"/>
            <a:ext cx="10814804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Quizzes for retention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170" y="4910495"/>
            <a:ext cx="949285" cy="11391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55426" y="5100280"/>
            <a:ext cx="237327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Smart Tracking</a:t>
            </a:r>
            <a:endParaRPr lang="en-US" sz="1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455426" y="5484495"/>
            <a:ext cx="10814804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Weak topics identified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0170" y="6049685"/>
            <a:ext cx="949285" cy="113919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455426" y="6239470"/>
            <a:ext cx="237327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Structured Plans</a:t>
            </a:r>
            <a:endParaRPr lang="en-US" sz="1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2455426" y="6623685"/>
            <a:ext cx="10814804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Revision schedules created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360170" y="7353181"/>
            <a:ext cx="1191006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Result: </a:t>
            </a:r>
            <a:r>
              <a:rPr lang="en-US" sz="1450" b="1" dirty="0">
                <a:solidFill>
                  <a:srgbClr val="609DFF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Smart, adaptive, and efficient learning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481138"/>
            <a:ext cx="7990880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How It Meets Build Criteria</a:t>
            </a:r>
            <a:endParaRPr lang="en-US" sz="4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2746058"/>
            <a:ext cx="4136350" cy="1877735"/>
          </a:xfrm>
          <a:prstGeom prst="roundRect">
            <a:avLst>
              <a:gd name="adj" fmla="val 779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2746058"/>
            <a:ext cx="121920" cy="1877735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302335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Google Gemini API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2535" y="3556873"/>
            <a:ext cx="349031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Generative AI implementation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46965" y="2746058"/>
            <a:ext cx="4136350" cy="1877735"/>
          </a:xfrm>
          <a:prstGeom prst="roundRect">
            <a:avLst>
              <a:gd name="adj" fmla="val 779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485" y="2746058"/>
            <a:ext cx="121920" cy="1877735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9" name="Text 7"/>
          <p:cNvSpPr/>
          <p:nvPr/>
        </p:nvSpPr>
        <p:spPr>
          <a:xfrm>
            <a:off x="5615702" y="302335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AI Agent Workflow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15702" y="3556873"/>
            <a:ext cx="349031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Complete pipeline architecture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30132" y="2746058"/>
            <a:ext cx="4136350" cy="1877735"/>
          </a:xfrm>
          <a:prstGeom prst="roundRect">
            <a:avLst>
              <a:gd name="adj" fmla="val 779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9652" y="2746058"/>
            <a:ext cx="121920" cy="1877735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98869" y="302335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Real-World Data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98869" y="3556873"/>
            <a:ext cx="349031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PDF processing capability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3798" y="4870609"/>
            <a:ext cx="4136350" cy="1877735"/>
          </a:xfrm>
          <a:prstGeom prst="roundRect">
            <a:avLst>
              <a:gd name="adj" fmla="val 779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18" y="4870609"/>
            <a:ext cx="121920" cy="1877735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32535" y="514790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Actionable Outputs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2535" y="5681424"/>
            <a:ext cx="349031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Answers, quizzes, insights, plans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46965" y="4870609"/>
            <a:ext cx="4136350" cy="1877735"/>
          </a:xfrm>
          <a:prstGeom prst="roundRect">
            <a:avLst>
              <a:gd name="adj" fmla="val 779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6485" y="4870609"/>
            <a:ext cx="121920" cy="1877735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15702" y="5147905"/>
            <a:ext cx="3490317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End-to-End Application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15702" y="6066949"/>
            <a:ext cx="349031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UI + backend integration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597" y="1263729"/>
            <a:ext cx="5065990" cy="52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Unique Value Proposition</a:t>
            </a:r>
            <a:endParaRPr lang="en-US" sz="3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84597" y="1955006"/>
            <a:ext cx="7974806" cy="901779"/>
          </a:xfrm>
          <a:prstGeom prst="roundRect">
            <a:avLst>
              <a:gd name="adj" fmla="val 777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9143" y="2129552"/>
            <a:ext cx="2087761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Complete Ecosystem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9143" y="2458283"/>
            <a:ext cx="7625715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Not just a chatbot—full learning platform</a:t>
            </a:r>
            <a:endParaRPr lang="en-US" sz="13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84597" y="2969776"/>
            <a:ext cx="7974806" cy="901779"/>
          </a:xfrm>
          <a:prstGeom prst="roundRect">
            <a:avLst>
              <a:gd name="adj" fmla="val 777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9143" y="3144322"/>
            <a:ext cx="2087761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Personalized Tutor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9143" y="3473053"/>
            <a:ext cx="7625715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Adapts to individual needs</a:t>
            </a:r>
            <a:endParaRPr lang="en-US" sz="13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84597" y="3984546"/>
            <a:ext cx="7974806" cy="901779"/>
          </a:xfrm>
          <a:prstGeom prst="roundRect">
            <a:avLst>
              <a:gd name="adj" fmla="val 777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9143" y="4159091"/>
            <a:ext cx="2087761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Weak Area Detection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59143" y="4487823"/>
            <a:ext cx="7625715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Automatic topic identification</a:t>
            </a:r>
            <a:endParaRPr lang="en-US" sz="13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84597" y="4999315"/>
            <a:ext cx="7974806" cy="901779"/>
          </a:xfrm>
          <a:prstGeom prst="roundRect">
            <a:avLst>
              <a:gd name="adj" fmla="val 777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9143" y="5173861"/>
            <a:ext cx="2087761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Smart Revision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59143" y="5502593"/>
            <a:ext cx="7625715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Intelligent planning system</a:t>
            </a:r>
            <a:endParaRPr lang="en-US" sz="13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84597" y="6028134"/>
            <a:ext cx="7974806" cy="937736"/>
          </a:xfrm>
          <a:prstGeom prst="roundRect">
            <a:avLst>
              <a:gd name="adj" fmla="val 7481"/>
            </a:avLst>
          </a:prstGeom>
          <a:solidFill>
            <a:srgbClr val="001D4D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23" y="6205895"/>
            <a:ext cx="260866" cy="20871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79314" y="6182797"/>
            <a:ext cx="4341852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Special Feature: "Explain Like I'm 10" Mode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179314" y="6556772"/>
            <a:ext cx="7213163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Makes learning accessible to beginners</a:t>
            </a:r>
            <a:endParaRPr lang="en-US" sz="13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720" y="739021"/>
            <a:ext cx="7525822" cy="721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Comprehensive Feature Set</a:t>
            </a:r>
            <a:endParaRPr lang="en-US" sz="4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720" y="1891784"/>
            <a:ext cx="461605" cy="4616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7720" y="2623066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PDF Upload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07720" y="3113008"/>
            <a:ext cx="415849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Text extraction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1891784"/>
            <a:ext cx="461605" cy="4616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623066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AI Q&amp;A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35893" y="3113008"/>
            <a:ext cx="415849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Smart answering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4065" y="1891784"/>
            <a:ext cx="461605" cy="4616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64065" y="2623066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Quiz Generator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64065" y="3113008"/>
            <a:ext cx="415849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MCQs + explanations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720" y="3901916"/>
            <a:ext cx="461605" cy="4616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7720" y="4633198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Exam Mode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07720" y="5123140"/>
            <a:ext cx="415849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Test simulation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3901916"/>
            <a:ext cx="461605" cy="4616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4633198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Weak Tracking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235893" y="5123140"/>
            <a:ext cx="415849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Topic detection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4065" y="3901916"/>
            <a:ext cx="461605" cy="46160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64065" y="4633198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Revision Planner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9664065" y="5123140"/>
            <a:ext cx="415849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Smart scheduling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720" y="5912048"/>
            <a:ext cx="461605" cy="46160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07720" y="6643330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Flashcards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807720" y="7133273"/>
            <a:ext cx="415849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Interactive system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5912048"/>
            <a:ext cx="461605" cy="46160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35893" y="6643330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Summary Generator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5235893" y="7133273"/>
            <a:ext cx="415849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Concise notes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64065" y="5912048"/>
            <a:ext cx="461605" cy="46160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664065" y="6643330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Progress Dashboard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9664065" y="7133273"/>
            <a:ext cx="415849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Visual tracking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02719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System Workflow</a:t>
            </a:r>
            <a:endParaRPr lang="en-US" sz="4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372" y="2067639"/>
            <a:ext cx="12489537" cy="468665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6583" y="3261415"/>
            <a:ext cx="645137" cy="6451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161807" y="5435122"/>
            <a:ext cx="1883799" cy="725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Generate Output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4778" y="3262625"/>
            <a:ext cx="645136" cy="64513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787704" y="5435122"/>
            <a:ext cx="1883799" cy="725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Select Feature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3578" y="3262625"/>
            <a:ext cx="645136" cy="64513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26504" y="5435122"/>
            <a:ext cx="1883799" cy="725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Analyze (Gemini)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2377" y="3262625"/>
            <a:ext cx="645137" cy="645137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65303" y="5616567"/>
            <a:ext cx="1883799" cy="36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Extract Text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8274" y="3262625"/>
            <a:ext cx="645136" cy="64513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652492" y="5616567"/>
            <a:ext cx="1883799" cy="36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Upload PDF</a:t>
            </a:r>
            <a:endParaRPr lang="en-US" sz="22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63798" y="7031950"/>
            <a:ext cx="129028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Complete </a:t>
            </a:r>
            <a:r>
              <a:rPr lang="en-US" sz="1900" b="1" dirty="0">
                <a:solidFill>
                  <a:srgbClr val="609DFF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AI Agent Pipeline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828318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Technology Stack</a:t>
            </a:r>
            <a:endParaRPr lang="en-US" sz="4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198" y="221658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Core Technologies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0198" y="2848928"/>
            <a:ext cx="3407093" cy="446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Google Gemini API (GenAI)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Python backend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Streamlit UI framework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PyPDF for PDF parsing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python-dotenv for security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Pandas for analytics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Google Cloud Run deployment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367129" y="221658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AI Architecture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367129" y="2848928"/>
            <a:ext cx="3407093" cy="446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Context selection (chunking + ranking)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Prompt engineering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Gemini API integration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JSON parsing &amp; validation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Retry logic for robustness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Caching for performance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Error handling</a:t>
            </a:r>
            <a:endParaRPr lang="en-US" sz="1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736044"/>
            <a:ext cx="9161264" cy="704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Performance Dashboard &amp; Impact</a:t>
            </a:r>
            <a:endParaRPr lang="en-US" sz="4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8670" y="1964293"/>
            <a:ext cx="4179570" cy="74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80%</a:t>
            </a:r>
            <a:endParaRPr lang="en-US" sz="5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70065" y="2974658"/>
            <a:ext cx="2816662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Score Tracking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8670" y="3450074"/>
            <a:ext cx="417957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Real-time percentage display</a:t>
            </a:r>
            <a:endParaRPr lang="en-US" sz="17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25296" y="1964293"/>
            <a:ext cx="4179689" cy="74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3-5</a:t>
            </a:r>
            <a:endParaRPr lang="en-US" sz="5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06810" y="2974658"/>
            <a:ext cx="2816662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Day Plans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25296" y="3450074"/>
            <a:ext cx="4179689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Automated study schedules</a:t>
            </a:r>
            <a:endParaRPr lang="en-US" sz="17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62041" y="1964293"/>
            <a:ext cx="4179570" cy="74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100%</a:t>
            </a:r>
            <a:endParaRPr lang="en-US" sz="58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43436" y="2974658"/>
            <a:ext cx="2816662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Focus Areas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62041" y="3450074"/>
            <a:ext cx="417957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Weak topics prioritized</a:t>
            </a:r>
            <a:endParaRPr lang="en-US" sz="17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8670" y="4026218"/>
            <a:ext cx="6423660" cy="1630799"/>
          </a:xfrm>
          <a:prstGeom prst="roundRect">
            <a:avLst>
              <a:gd name="adj" fmla="val 580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556" y="4259104"/>
            <a:ext cx="2816662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Progress Insights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1556" y="4734520"/>
            <a:ext cx="595788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Score tracking, weak topics, mistake frequency, visual progress</a:t>
            </a:r>
            <a:endParaRPr lang="en-US" sz="17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17951" y="4026218"/>
            <a:ext cx="6423779" cy="1630799"/>
          </a:xfrm>
          <a:prstGeom prst="roundRect">
            <a:avLst>
              <a:gd name="adj" fmla="val 580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0837" y="4259104"/>
            <a:ext cx="2816662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Smart Revision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50837" y="4734520"/>
            <a:ext cx="5958007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3–5-day plans, daily goals, actionable tasks, topic prioritization</a:t>
            </a:r>
            <a:endParaRPr lang="en-US" sz="17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88670" y="5862637"/>
            <a:ext cx="6423660" cy="1630799"/>
          </a:xfrm>
          <a:prstGeom prst="roundRect">
            <a:avLst>
              <a:gd name="adj" fmla="val 580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1556" y="6095524"/>
            <a:ext cx="2816662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Flashcards System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21556" y="6570940"/>
            <a:ext cx="595788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AI-generated cards, weak topic focus, interactive reveal, memory retention</a:t>
            </a:r>
            <a:endParaRPr lang="en-US" sz="17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17951" y="5862637"/>
            <a:ext cx="6423779" cy="1630799"/>
          </a:xfrm>
          <a:prstGeom prst="roundRect">
            <a:avLst>
              <a:gd name="adj" fmla="val 580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0837" y="6095524"/>
            <a:ext cx="2966085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Data-Driven Learning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50837" y="6570940"/>
            <a:ext cx="5958007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Quiz scores, performance trends, improvement tracking</a:t>
            </a:r>
            <a:endParaRPr lang="en-US" sz="17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422F39A-6CB7-4A8E-9349-5CE953AF6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599" y="2596795"/>
            <a:ext cx="4705936" cy="424836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7D330A-A562-F3A2-9BE4-2E2DAF5D69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" t="49738" r="-107" b="20877"/>
          <a:stretch>
            <a:fillRect/>
          </a:stretch>
        </p:blipFill>
        <p:spPr>
          <a:xfrm>
            <a:off x="4967841" y="2596795"/>
            <a:ext cx="4700894" cy="424836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798F12-98EF-7296-EB98-C09A52A060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486"/>
          <a:stretch>
            <a:fillRect/>
          </a:stretch>
        </p:blipFill>
        <p:spPr>
          <a:xfrm>
            <a:off x="127864" y="2596795"/>
            <a:ext cx="4712113" cy="424836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3" name="Text 0">
            <a:extLst>
              <a:ext uri="{FF2B5EF4-FFF2-40B4-BE49-F238E27FC236}">
                <a16:creationId xmlns:a16="http://schemas.microsoft.com/office/drawing/2014/main" id="{5BCAB78F-1B2C-F892-5FE2-76D6DCC83AAA}"/>
              </a:ext>
            </a:extLst>
          </p:cNvPr>
          <p:cNvSpPr/>
          <p:nvPr/>
        </p:nvSpPr>
        <p:spPr>
          <a:xfrm>
            <a:off x="788670" y="736044"/>
            <a:ext cx="9161264" cy="704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</a:rPr>
              <a:t>Intuitive Design in Action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7A9258-5A7D-B911-C431-9E0DC1A636E7}"/>
              </a:ext>
            </a:extLst>
          </p:cNvPr>
          <p:cNvSpPr txBox="1"/>
          <p:nvPr/>
        </p:nvSpPr>
        <p:spPr>
          <a:xfrm>
            <a:off x="788670" y="1886737"/>
            <a:ext cx="13441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Explore the seamless experience of our Smart Study Assistant, designed for ease of use.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1409FF-F48B-C4A4-3198-5BC05AC73195}"/>
              </a:ext>
            </a:extLst>
          </p:cNvPr>
          <p:cNvSpPr txBox="1"/>
          <p:nvPr/>
        </p:nvSpPr>
        <p:spPr>
          <a:xfrm>
            <a:off x="978742" y="7129294"/>
            <a:ext cx="13060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Our user interface brings advanced AI features to your fingertips, simplifying complex study tasks and enhancing your learning journey.</a:t>
            </a:r>
          </a:p>
        </p:txBody>
      </p:sp>
    </p:spTree>
    <p:extLst>
      <p:ext uri="{BB962C8B-B14F-4D97-AF65-F5344CB8AC3E}">
        <p14:creationId xmlns:p14="http://schemas.microsoft.com/office/powerpoint/2010/main" val="399050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72910" y="982385"/>
            <a:ext cx="4736544" cy="591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🙏</a:t>
            </a:r>
            <a:r>
              <a:rPr lang="en-US" sz="37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 Thank You</a:t>
            </a:r>
            <a:endParaRPr lang="en-US" sz="3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72910" y="1792486"/>
            <a:ext cx="1188458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Thank you for your time and consideration.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372910" y="2318484"/>
            <a:ext cx="11884581" cy="31194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372910" y="2567702"/>
            <a:ext cx="4327088" cy="35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📚</a:t>
            </a:r>
            <a:r>
              <a:rPr lang="en-US" sz="22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 Smart Study Assistant Agent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72910" y="3140988"/>
            <a:ext cx="11884581" cy="53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Generative AI transforms traditional learning into personalized education, improving student outcomes with scalable AI-driven systems.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910" y="3840123"/>
            <a:ext cx="1355527" cy="521017"/>
          </a:xfrm>
          <a:prstGeom prst="rect">
            <a:avLst/>
          </a:prstGeom>
        </p:spPr>
      </p:pic>
      <p:pic>
        <p:nvPicPr>
          <p:cNvPr id="10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3091" y="3840123"/>
            <a:ext cx="2074545" cy="52101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372910" y="4619366"/>
            <a:ext cx="11884581" cy="31194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1372910" y="4868585"/>
            <a:ext cx="2841903" cy="35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🔗</a:t>
            </a:r>
            <a:r>
              <a:rPr lang="en-US" sz="2200" dirty="0">
                <a:solidFill>
                  <a:srgbClr val="F5F0F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 Connect with me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372910" y="5441871"/>
            <a:ext cx="1188458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Ketan Dutt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372910" y="5873234"/>
            <a:ext cx="1188458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GitHub: </a:t>
            </a:r>
            <a:r>
              <a:rPr lang="en-US" sz="1450" u="sng" dirty="0">
                <a:solidFill>
                  <a:srgbClr val="609DFF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https://github.com/KetanDutt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372910" y="6304597"/>
            <a:ext cx="1188458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Email: </a:t>
            </a:r>
            <a:r>
              <a:rPr lang="en-US" sz="1450" u="sng" dirty="0">
                <a:solidFill>
                  <a:srgbClr val="609DFF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ketan.dutt@yahoo.in</a:t>
            </a:r>
            <a:endParaRPr lang="en-US" sz="14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1372910" y="6830595"/>
            <a:ext cx="11884581" cy="31194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1372910" y="7025283"/>
            <a:ext cx="11884581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🚀</a:t>
            </a:r>
            <a:r>
              <a:rPr lang="en-US" sz="1150" dirty="0">
                <a:solidFill>
                  <a:srgbClr val="E2E6E9"/>
                </a:solidFill>
                <a:latin typeface="Verdana" panose="020B0604030504040204" pitchFamily="34" charset="0"/>
                <a:ea typeface="Verdana" panose="020B0604030504040204" pitchFamily="34" charset="0"/>
                <a:cs typeface="Merriweather" pitchFamily="34" charset="-120"/>
              </a:rPr>
              <a:t> Built using Google Gemini | GenAI Academy 2026</a:t>
            </a:r>
            <a:endParaRPr lang="en-US" sz="11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65</TotalTime>
  <Words>519</Words>
  <Application>Microsoft Office PowerPoint</Application>
  <PresentationFormat>Custom</PresentationFormat>
  <Paragraphs>144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Century Gothic</vt:lpstr>
      <vt:lpstr>Arial</vt:lpstr>
      <vt:lpstr>Verdana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Ketan Dutt</cp:lastModifiedBy>
  <cp:revision>7</cp:revision>
  <dcterms:created xsi:type="dcterms:W3CDTF">2026-03-30T07:59:55Z</dcterms:created>
  <dcterms:modified xsi:type="dcterms:W3CDTF">2026-03-30T09:14:04Z</dcterms:modified>
</cp:coreProperties>
</file>